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41.1</c:v>
                </c:pt>
                <c:pt idx="1">
                  <c:v>49.3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SIGINEX es la capa de inteligencia de DQnexus para el SGI. Tesis: orquestar la IA, no solo usarla.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dolores: dispersión, normativa cambiante y silos.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módulos, 521 preguntas, 5 niveles. Del qué al cómo.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del orquestador. Misma lógica en app, API y evals.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entregables accionables.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Nueve módulos, incluidos ESG y gobernanza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Antes/Ahora: el salto está en orquestar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Vigilancia normativa y de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planos, multi-tenant, API, listo para desplegar.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Estado: 100% construido, evals 8/8, rápido, versionado.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Piloto, despliegue,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DQNEXUS · CAPA DE INTELIGENCIA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SIGINEX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inteligente para el Sistema de Gestión Integral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diferencial no está en usar tecnología, </a:t>
            </a:r>
            <a:pPr indent="0" marL="0">
              <a:buNone/>
            </a:pPr>
            <a:r>
              <a:rPr lang="en-US" sz="16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en saber orquestarla.”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52120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39" y="5368991"/>
            <a:ext cx="289682" cy="2896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53312" y="52120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5368991"/>
            <a:ext cx="289682" cy="2896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39696" y="52120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607" y="5368991"/>
            <a:ext cx="289682" cy="289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10128" y="53583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madurez · cumplimiento del SGI en Colombia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gestionan múltiples sistemas de gestión de forma dispersa, con normativa que cambia y datos en silos. El costo: sanciones y decisiones a ciegas.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56509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682496"/>
            <a:ext cx="603504" cy="603504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4831" y="183940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15910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disperso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1975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Autoevaluaciones en Excel, sin una visión integral de los sistemas.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788920"/>
            <a:ext cx="56509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3099816"/>
            <a:ext cx="603504" cy="603504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831" y="3256727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3008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Normativa cambiante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40880" y="3392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y regulación colombiana que se actualizan y son difíciles de rastrear.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0" y="4206240"/>
            <a:ext cx="56509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4517136"/>
            <a:ext cx="603504" cy="603504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31" y="4674047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en silos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040880" y="48097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SST, ambiental, calidad, riesgos y datos operando por separado.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SIGINEX, en una frase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27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autodiagnóstico inteligente que mide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y madurez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SGI y convierte cada brecha en un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31546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33211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86968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SGI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24528" y="2834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31546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989" y="33211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</a:t>
            </a:r>
            <a:endParaRPr lang="en-US" sz="5200" dirty="0"/>
          </a:p>
        </p:txBody>
      </p:sp>
      <p:sp>
        <p:nvSpPr>
          <p:cNvPr id="14" name="Text 10"/>
          <p:cNvSpPr/>
          <p:nvPr/>
        </p:nvSpPr>
        <p:spPr>
          <a:xfrm>
            <a:off x="4544568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evaluables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882128" y="2834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02168" y="31546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89" y="33211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9" name="Text 14"/>
          <p:cNvSpPr/>
          <p:nvPr/>
        </p:nvSpPr>
        <p:spPr>
          <a:xfrm>
            <a:off x="8202168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madurez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pipeline, ejecutado igual desde la app, la API o un lote: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22860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203" y="24761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aplicabilidad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20924" y="20116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1004" y="22860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24761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0652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912364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scoring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074920" y="20116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95" y="247619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16636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daciones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328916" y="20116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68996" y="22860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191" y="247619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8644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20356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adopción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9582912" y="20116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22992" y="22860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187" y="2476195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92640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674352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reporte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566928" y="461772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y reproducible: una sola lógica y un solo banco para todo el sistema.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accionables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5564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9030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737360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y madurez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7048" y="2121408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global, por módulo y nivel 1–5.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4736" y="146304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9056" y="175564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57" y="19030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4856" y="1737360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mejora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24856" y="2121408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con responsable, prioridad y plazo.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2544" y="146304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6864" y="175564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265" y="19030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2664" y="1737360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Rutas de aprendizaje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22664" y="2121408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brecha enlaza una ruta interna de DQnexus.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338328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67588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382328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27048" y="3657600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27048" y="4041648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al mercado y frente a su sector.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64736" y="338328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9056" y="367588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457" y="382328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4856" y="3657600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ejecutivo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24856" y="4041648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automática para dirección.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2544" y="338328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6864" y="367588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265" y="382328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22664" y="3657600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22664" y="4041648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en el tiempo y comparación.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Anclada a la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Cobertura: 9 módulos del SGI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1328" y="171907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SG-SST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9496" y="146304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8096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63896" y="171907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2064" y="146304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0664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46464" y="171907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65176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1328" y="290779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9496" y="265176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8096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63896" y="290779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32064" y="265176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0664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46464" y="290779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 Datos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81328" y="409651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Corporativo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49496" y="384048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8096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63896" y="409651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Sostenibilidad / ESG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2064" y="3840480"/>
            <a:ext cx="3462528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60664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46464" y="4096512"/>
            <a:ext cx="245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 IA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6928" y="52578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Anclada a ISO 9001/14001/45001/27001/31000, ISSB NIIF S1-S2, ISO 42001 y a la normativa colombiana (Res. 0312, Ley 1581, Ley 2195, circulares SFC).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Orquestación, no solo tecnología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B16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SOFTWARE TRADICIONAL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2468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codificadas; cada cambio es un release.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y matrices a mano, en meses.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diagramas rezagados.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9048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B16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· ORQUESTACIÓN DE 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64808" y="2468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 motores declarativos; ajuste sin reescribir.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lógica en app, API y evals.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Gobierna su propia IA: ISO 42001 y evals 8/8.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mantiene al día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39" y="161995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normativa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89888" y="18653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 cambios en ISO y regulación colombiana.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6974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39" y="285439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2715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de mercado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89888" y="30998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estándares y competidores emergentes.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393192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4088831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3950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 + alertas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89888" y="43342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automática y alertas por severidad.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766560" y="1554480"/>
            <a:ext cx="4828032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40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cumplimiento se vuelve mercado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949440" y="2286000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 13"/>
          <p:cNvSpPr/>
          <p:nvPr/>
        </p:nvSpPr>
        <p:spPr>
          <a:xfrm>
            <a:off x="704088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compliance en la nube (miles de millones USD). Fuente: vigilancia de mercado de SIGINEX.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planos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lista para operar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55648"/>
            <a:ext cx="566928" cy="566928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9030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755648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7048" y="2139696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Artefacto, reporte, histórico, adopción.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4736" y="146304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9056" y="1755648"/>
            <a:ext cx="566928" cy="566928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57" y="19030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4856" y="1755648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24856" y="2139696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Orquestador, aplicabilidad, skills ×9.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62544" y="146304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6864" y="1755648"/>
            <a:ext cx="566928" cy="566928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265" y="19030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2664" y="1755648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22664" y="2139696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benchmark, plan, sectorial.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38328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675888"/>
            <a:ext cx="566928" cy="566928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382328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27048" y="3675888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27048" y="4059936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Normativo, ESG/IA, guías técnicas.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64736" y="338328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9056" y="3675888"/>
            <a:ext cx="566928" cy="566928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457" y="382328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4856" y="3675888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24856" y="4059936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y motor de alertas.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62544" y="3383280"/>
            <a:ext cx="34320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6864" y="3675888"/>
            <a:ext cx="566928" cy="566928"/>
          </a:xfrm>
          <a:prstGeom prst="ellipse">
            <a:avLst/>
          </a:prstGeom>
          <a:solidFill>
            <a:srgbClr val="14202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265" y="382328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22664" y="3675888"/>
            <a:ext cx="233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22664" y="4059936"/>
            <a:ext cx="2334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multi-tenant, API, Docker/CI.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producto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Construido y verificable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482596" cy="2194560"/>
          </a:xfrm>
          <a:prstGeom prst="roundRect">
            <a:avLst>
              <a:gd name="adj" fmla="val 3333"/>
            </a:avLst>
          </a:prstGeom>
          <a:solidFill>
            <a:srgbClr val="0B16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286000"/>
            <a:ext cx="21168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21168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capacidades construidas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5284" y="1828800"/>
            <a:ext cx="2482596" cy="2194560"/>
          </a:xfrm>
          <a:prstGeom prst="roundRect">
            <a:avLst>
              <a:gd name="adj" fmla="val 3333"/>
            </a:avLst>
          </a:prstGeom>
          <a:solidFill>
            <a:srgbClr val="0B16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8164" y="2286000"/>
            <a:ext cx="21168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98164" y="3200400"/>
            <a:ext cx="21168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del agente en verde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2482596" cy="2194560"/>
          </a:xfrm>
          <a:prstGeom prst="roundRect">
            <a:avLst>
              <a:gd name="adj" fmla="val 3333"/>
            </a:avLst>
          </a:prstGeom>
          <a:solidFill>
            <a:srgbClr val="0B16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286000"/>
            <a:ext cx="21168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 ms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46520" y="3200400"/>
            <a:ext cx="21168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diagnóstico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11996" y="1828800"/>
            <a:ext cx="2482596" cy="2194560"/>
          </a:xfrm>
          <a:prstGeom prst="roundRect">
            <a:avLst>
              <a:gd name="adj" fmla="val 3333"/>
            </a:avLst>
          </a:prstGeom>
          <a:solidFill>
            <a:srgbClr val="0B16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4876" y="2286000"/>
            <a:ext cx="21168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v3.13.0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94876" y="3200400"/>
            <a:ext cx="21168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en CHANGELOG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47091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orientativo: SIGINEX no sustituye una auditoría formal ni un concepto legal.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construido a operando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3710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0992" y="20116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962" y="2225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3017520"/>
            <a:ext cx="300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86968" y="3520440"/>
            <a:ext cx="2731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empresas: diagnóstico real y ajuste fino.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5216" y="1737360"/>
            <a:ext cx="33710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50" y="22256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3816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8096" y="3017520"/>
            <a:ext cx="300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15256" y="3520440"/>
            <a:ext cx="2731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sobre base de datos, observabilidad instrumentada.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3504" y="1737360"/>
            <a:ext cx="33710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97568" y="20116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538" y="22256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2104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06384" y="3017520"/>
            <a:ext cx="300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543544" y="3520440"/>
            <a:ext cx="2731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acumulados activan el benchmarking sectorial.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5544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39" y="1711391"/>
            <a:ext cx="289682" cy="2896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3312" y="15544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1711391"/>
            <a:ext cx="289682" cy="28968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39696" y="15544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607" y="1711391"/>
            <a:ext cx="289682" cy="2896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28" y="24688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Orquestar la inteligencia del cumplimiento.</a:t>
            </a:r>
            <a:endParaRPr lang="en-US" sz="3800" dirty="0"/>
          </a:p>
        </p:txBody>
      </p:sp>
      <p:sp>
        <p:nvSpPr>
          <p:cNvPr id="9" name="Text 4"/>
          <p:cNvSpPr/>
          <p:nvPr/>
        </p:nvSpPr>
        <p:spPr>
          <a:xfrm>
            <a:off x="56692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diferencial no está en usar tecnología, sino en saber orquestarla.”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66928" y="5212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SIGINEX · DQnexus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56692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concientic.com/siginex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SIGINEX — Pitch</dc:title>
  <dc:subject>PptxGenJS Presentation</dc:subject>
  <dc:creator>DQnexus</dc:creator>
  <cp:lastModifiedBy>DQnexus</cp:lastModifiedBy>
  <cp:revision>1</cp:revision>
  <dcterms:created xsi:type="dcterms:W3CDTF">2026-07-07T14:25:44Z</dcterms:created>
  <dcterms:modified xsi:type="dcterms:W3CDTF">2026-07-07T14:25:44Z</dcterms:modified>
</cp:coreProperties>
</file>